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61" r:id="rId2"/>
    <p:sldId id="460" r:id="rId3"/>
    <p:sldId id="430" r:id="rId4"/>
    <p:sldId id="456" r:id="rId5"/>
    <p:sldId id="458" r:id="rId6"/>
    <p:sldId id="457" r:id="rId7"/>
    <p:sldId id="468" r:id="rId8"/>
    <p:sldId id="469" r:id="rId9"/>
    <p:sldId id="462" r:id="rId10"/>
    <p:sldId id="463" r:id="rId11"/>
    <p:sldId id="464" r:id="rId12"/>
    <p:sldId id="465" r:id="rId13"/>
    <p:sldId id="466" r:id="rId14"/>
    <p:sldId id="467" r:id="rId15"/>
    <p:sldId id="471" r:id="rId16"/>
    <p:sldId id="4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chemeClr val="bg2"/>
              </a:gs>
              <a:gs pos="50000">
                <a:schemeClr val="bg1"/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800" dirty="0"/>
          </a:p>
        </p:txBody>
      </p:sp>
      <p:pic>
        <p:nvPicPr>
          <p:cNvPr id="19464" name="Picture 8" descr="MICV4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9200" y="838200"/>
            <a:ext cx="4673600" cy="1828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740026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495800"/>
            <a:ext cx="85344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63223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 typeface="Wingdings" panose="05000000000000000000" pitchFamily="2" charset="2"/>
              <a:buChar char="l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1543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3716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16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009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515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1985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911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3861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634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1550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: Blank (Copy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09602" y="301752"/>
            <a:ext cx="10972801" cy="44994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29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758955"/>
            <a:ext cx="10972800" cy="348343"/>
          </a:xfrm>
          <a:prstGeom prst="rect">
            <a:avLst/>
          </a:prstGeom>
        </p:spPr>
        <p:txBody>
          <a:bodyPr lIns="91440" rIns="91440"/>
          <a:lstStyle>
            <a:lvl1pPr marL="0" indent="0">
              <a:buNone/>
              <a:defRPr sz="15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239985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40000" y="198438"/>
            <a:ext cx="9042400" cy="868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71600"/>
            <a:ext cx="109728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203200" y="1219200"/>
            <a:ext cx="11785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 dirty="0"/>
          </a:p>
        </p:txBody>
      </p:sp>
      <p:sp>
        <p:nvSpPr>
          <p:cNvPr id="1036" name="Text Box 12"/>
          <p:cNvSpPr txBox="1">
            <a:spLocks noChangeArrowheads="1"/>
          </p:cNvSpPr>
          <p:nvPr/>
        </p:nvSpPr>
        <p:spPr bwMode="auto">
          <a:xfrm>
            <a:off x="11277600" y="6629400"/>
            <a:ext cx="11176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fld id="{68F2991B-757B-4518-890D-960426509884}" type="slidenum">
              <a:rPr lang="en-US" altLang="en-US" sz="1200"/>
              <a:pPr>
                <a:spcBef>
                  <a:spcPct val="50000"/>
                </a:spcBef>
              </a:pPr>
              <a:t>‹#›</a:t>
            </a:fld>
            <a:endParaRPr lang="en-US" altLang="en-US" sz="1200" dirty="0"/>
          </a:p>
        </p:txBody>
      </p:sp>
      <p:sp>
        <p:nvSpPr>
          <p:cNvPr id="1041" name="Line 17"/>
          <p:cNvSpPr>
            <a:spLocks noChangeShapeType="1"/>
          </p:cNvSpPr>
          <p:nvPr/>
        </p:nvSpPr>
        <p:spPr bwMode="auto">
          <a:xfrm rot="10800000">
            <a:off x="203200" y="6629400"/>
            <a:ext cx="11785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 dirty="0"/>
          </a:p>
        </p:txBody>
      </p:sp>
      <p:pic>
        <p:nvPicPr>
          <p:cNvPr id="9" name="Picture 19" descr="\\overseer\Marcom\Photo_ads\LogoArt\Microchip Logo\MCHP_Logo_Vertical_4C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667" y="231776"/>
            <a:ext cx="1896533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946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2pPr>
      <a:lvl3pPr algn="ctr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3pPr>
      <a:lvl4pPr algn="ctr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4pPr>
      <a:lvl5pPr algn="ctr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lnSpc>
          <a:spcPct val="75000"/>
        </a:lnSpc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l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l"/>
        <a:defRPr sz="2800" baseline="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l"/>
        <a:defRPr sz="2400" baseline="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l"/>
        <a:defRPr sz="2000" baseline="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l"/>
        <a:defRPr sz="2000" baseline="0">
          <a:solidFill>
            <a:schemeClr val="tx1"/>
          </a:solidFill>
          <a:latin typeface="+mn-lt"/>
        </a:defRPr>
      </a:lvl6pPr>
      <a:lvl7pPr marL="2743200" indent="0" algn="l" rtl="0" eaLnBrk="1" fontAlgn="base" hangingPunct="1">
        <a:spcBef>
          <a:spcPct val="20000"/>
        </a:spcBef>
        <a:spcAft>
          <a:spcPct val="0"/>
        </a:spcAft>
        <a:buSzPct val="70000"/>
        <a:buFont typeface="Monotype Sorts" pitchFamily="2" charset="2"/>
        <a:buNone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SzPct val="70000"/>
        <a:buFont typeface="Monotype Sorts" pitchFamily="2" charset="2"/>
        <a:buChar char="l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SzPct val="70000"/>
        <a:buFont typeface="Monotype Sorts" pitchFamily="2" charset="2"/>
        <a:buChar char="l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757DE79D-B98C-4990-BF5B-3F35F3DC335A}"/>
              </a:ext>
            </a:extLst>
          </p:cNvPr>
          <p:cNvSpPr txBox="1">
            <a:spLocks/>
          </p:cNvSpPr>
          <p:nvPr/>
        </p:nvSpPr>
        <p:spPr bwMode="auto">
          <a:xfrm>
            <a:off x="1524000" y="1868088"/>
            <a:ext cx="9144000" cy="238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altLang="zh-CN" kern="0" dirty="0"/>
              <a:t>MCU UPDI Porting</a:t>
            </a:r>
            <a:endParaRPr lang="en-GB" kern="0" dirty="0"/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C76672DA-4351-48E1-BF6A-B7F773E238EC}"/>
              </a:ext>
            </a:extLst>
          </p:cNvPr>
          <p:cNvSpPr txBox="1">
            <a:spLocks/>
          </p:cNvSpPr>
          <p:nvPr/>
        </p:nvSpPr>
        <p:spPr bwMode="auto">
          <a:xfrm>
            <a:off x="1524000" y="4347763"/>
            <a:ext cx="9144000" cy="165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l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l"/>
              <a:defRPr sz="2800" baseline="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l"/>
              <a:defRPr sz="2400" baseline="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l"/>
              <a:defRPr sz="2000" baseline="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l"/>
              <a:defRPr sz="2000" baseline="0">
                <a:solidFill>
                  <a:schemeClr val="tx1"/>
                </a:solidFill>
                <a:latin typeface="+mn-lt"/>
              </a:defRPr>
            </a:lvl6pPr>
            <a:lvl7pPr marL="2743200" indent="0" algn="l" rtl="0" eaLnBrk="1" fontAlgn="base" hangingPunct="1">
              <a:spcBef>
                <a:spcPct val="20000"/>
              </a:spcBef>
              <a:spcAft>
                <a:spcPct val="0"/>
              </a:spcAft>
              <a:buSzPct val="70000"/>
              <a:buFont typeface="Monotype Sorts" pitchFamily="2" charset="2"/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70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70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r"/>
            <a:r>
              <a:rPr lang="en-GB" kern="0"/>
              <a:t>Rocup Wan</a:t>
            </a:r>
            <a:endParaRPr lang="en-GB" kern="0" dirty="0"/>
          </a:p>
        </p:txBody>
      </p:sp>
    </p:spTree>
    <p:extLst>
      <p:ext uri="{BB962C8B-B14F-4D97-AF65-F5344CB8AC3E}">
        <p14:creationId xmlns:p14="http://schemas.microsoft.com/office/powerpoint/2010/main" val="1899490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66AC9AAE-7EC8-48C4-AA15-39096334651E}"/>
              </a:ext>
            </a:extLst>
          </p:cNvPr>
          <p:cNvSpPr/>
          <p:nvPr/>
        </p:nvSpPr>
        <p:spPr>
          <a:xfrm>
            <a:off x="2635207" y="2467994"/>
            <a:ext cx="6138244" cy="35566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492460"/>
            <a:ext cx="7772400" cy="645460"/>
          </a:xfrm>
        </p:spPr>
        <p:txBody>
          <a:bodyPr/>
          <a:lstStyle/>
          <a:p>
            <a:r>
              <a:rPr lang="en-US" altLang="zh-CN" sz="2800" dirty="0"/>
              <a:t>Software Framework</a:t>
            </a:r>
            <a:endParaRPr lang="en-US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A625D3-762A-4615-810D-C2DEF951CB66}"/>
              </a:ext>
            </a:extLst>
          </p:cNvPr>
          <p:cNvSpPr txBox="1"/>
          <p:nvPr/>
        </p:nvSpPr>
        <p:spPr>
          <a:xfrm>
            <a:off x="4456594" y="2707687"/>
            <a:ext cx="2704202" cy="1661993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FF0000"/>
                </a:solidFill>
                <a:latin typeface="Arial"/>
              </a:rPr>
              <a:t>MCU</a:t>
            </a:r>
          </a:p>
          <a:p>
            <a:pPr algn="ctr"/>
            <a:endParaRPr lang="en-US" altLang="zh-CN" sz="1400" dirty="0">
              <a:solidFill>
                <a:srgbClr val="FFFFFF"/>
              </a:solidFill>
              <a:latin typeface="Arial"/>
            </a:endParaRPr>
          </a:p>
          <a:p>
            <a:pPr algn="ctr"/>
            <a:endParaRPr lang="en-US" altLang="zh-CN" sz="1400" dirty="0">
              <a:solidFill>
                <a:srgbClr val="FFFFFF"/>
              </a:solidFill>
              <a:latin typeface="Arial"/>
            </a:endParaRPr>
          </a:p>
          <a:p>
            <a:pPr algn="ctr"/>
            <a:endParaRPr lang="en-US" altLang="zh-CN" sz="1400" dirty="0">
              <a:solidFill>
                <a:srgbClr val="FFFFFF"/>
              </a:solidFill>
              <a:latin typeface="Arial"/>
            </a:endParaRPr>
          </a:p>
          <a:p>
            <a:pPr algn="ctr"/>
            <a:endParaRPr lang="en-US" altLang="zh-CN" sz="1400" dirty="0">
              <a:solidFill>
                <a:srgbClr val="FFFFFF"/>
              </a:solidFill>
              <a:latin typeface="Arial"/>
            </a:endParaRPr>
          </a:p>
          <a:p>
            <a:pPr algn="ctr"/>
            <a:endParaRPr lang="en-US" altLang="zh-CN" sz="1400" dirty="0">
              <a:solidFill>
                <a:srgbClr val="FFFFFF"/>
              </a:solidFill>
              <a:latin typeface="Arial"/>
            </a:endParaRPr>
          </a:p>
          <a:p>
            <a:pPr algn="ctr"/>
            <a:endParaRPr lang="en-US" altLang="zh-CN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7B78FB-7BE9-4EEB-9994-3C823B1F7EAF}"/>
              </a:ext>
            </a:extLst>
          </p:cNvPr>
          <p:cNvSpPr txBox="1"/>
          <p:nvPr/>
        </p:nvSpPr>
        <p:spPr>
          <a:xfrm>
            <a:off x="4456594" y="5057268"/>
            <a:ext cx="2704186" cy="830997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zh-CN" sz="1600" dirty="0">
              <a:solidFill>
                <a:srgbClr val="FFFFFF"/>
              </a:solidFill>
              <a:latin typeface="Arial"/>
            </a:endParaRPr>
          </a:p>
          <a:p>
            <a:pPr algn="ctr"/>
            <a:r>
              <a:rPr lang="en-US" altLang="zh-CN" sz="1600" dirty="0">
                <a:solidFill>
                  <a:srgbClr val="FFFFFF"/>
                </a:solidFill>
                <a:latin typeface="Arial"/>
              </a:rPr>
              <a:t>            </a:t>
            </a:r>
            <a:r>
              <a:rPr lang="en-US" altLang="zh-CN" sz="1600" dirty="0" err="1">
                <a:solidFill>
                  <a:srgbClr val="FFFFFF"/>
                </a:solidFill>
                <a:latin typeface="Arial"/>
              </a:rPr>
              <a:t>Attiny</a:t>
            </a:r>
            <a:r>
              <a:rPr lang="en-US" altLang="zh-CN" sz="1600" dirty="0">
                <a:solidFill>
                  <a:srgbClr val="FFFFFF"/>
                </a:solidFill>
                <a:latin typeface="Arial"/>
              </a:rPr>
              <a:t> series</a:t>
            </a:r>
          </a:p>
          <a:p>
            <a:pPr algn="ctr"/>
            <a:endParaRPr lang="en-US" altLang="zh-CN" sz="16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ABED0B-C11F-45DB-A081-204259CC6546}"/>
              </a:ext>
            </a:extLst>
          </p:cNvPr>
          <p:cNvSpPr txBox="1"/>
          <p:nvPr/>
        </p:nvSpPr>
        <p:spPr>
          <a:xfrm>
            <a:off x="4671164" y="5143401"/>
            <a:ext cx="760491" cy="30777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Arial"/>
              </a:rPr>
              <a:t>UPDI</a:t>
            </a:r>
            <a:endParaRPr lang="zh-CN" altLang="en-US" sz="140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3136DC5-2819-4282-9B15-7A4ED86CD151}"/>
              </a:ext>
            </a:extLst>
          </p:cNvPr>
          <p:cNvSpPr txBox="1"/>
          <p:nvPr/>
        </p:nvSpPr>
        <p:spPr>
          <a:xfrm>
            <a:off x="4225221" y="6132394"/>
            <a:ext cx="2935580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000000"/>
                </a:solidFill>
                <a:latin typeface="Arial"/>
              </a:rPr>
              <a:t>Embedded Board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E56AB0A-F9CE-47BA-B275-0C26C626CD8E}"/>
              </a:ext>
            </a:extLst>
          </p:cNvPr>
          <p:cNvSpPr txBox="1"/>
          <p:nvPr/>
        </p:nvSpPr>
        <p:spPr>
          <a:xfrm>
            <a:off x="4635652" y="3640386"/>
            <a:ext cx="1757406" cy="33855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Arial"/>
              </a:rPr>
              <a:t>UART</a:t>
            </a:r>
            <a:endParaRPr lang="zh-CN" altLang="en-US" sz="1600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30" name="Picture 6" descr="See the source image">
            <a:extLst>
              <a:ext uri="{FF2B5EF4-FFF2-40B4-BE49-F238E27FC236}">
                <a16:creationId xmlns:a16="http://schemas.microsoft.com/office/drawing/2014/main" id="{F8307B5A-9F07-41DE-8994-2A2D6C98E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085" y="5057268"/>
            <a:ext cx="1695778" cy="95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1A12EFFE-9CCD-42F8-86F1-B55CA8113938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90039" y="4249009"/>
            <a:ext cx="559309" cy="6376"/>
          </a:xfrm>
          <a:prstGeom prst="bentConnector3">
            <a:avLst/>
          </a:prstGeom>
          <a:ln w="76200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026D81C5-48F0-44D2-BA7F-95FC858081BB}"/>
              </a:ext>
            </a:extLst>
          </p:cNvPr>
          <p:cNvSpPr txBox="1"/>
          <p:nvPr/>
        </p:nvSpPr>
        <p:spPr>
          <a:xfrm>
            <a:off x="4671163" y="3092916"/>
            <a:ext cx="2253419" cy="315586"/>
          </a:xfrm>
          <a:prstGeom prst="rect">
            <a:avLst/>
          </a:prstGeom>
          <a:solidFill>
            <a:schemeClr val="accent1">
              <a:lumMod val="90000"/>
            </a:schemeClr>
          </a:solidFill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altLang="zh-CN" dirty="0">
                <a:solidFill>
                  <a:srgbClr val="FFFFFF"/>
                </a:solidFill>
                <a:latin typeface="Arial"/>
              </a:rPr>
              <a:t>CUPDI Module</a:t>
            </a:r>
          </a:p>
        </p:txBody>
      </p:sp>
      <p:cxnSp>
        <p:nvCxnSpPr>
          <p:cNvPr id="35" name="连接符: 肘形 15">
            <a:extLst>
              <a:ext uri="{FF2B5EF4-FFF2-40B4-BE49-F238E27FC236}">
                <a16:creationId xmlns:a16="http://schemas.microsoft.com/office/drawing/2014/main" id="{336916CA-3324-4E12-85E6-012FC136154E}"/>
              </a:ext>
            </a:extLst>
          </p:cNvPr>
          <p:cNvCxnSpPr>
            <a:cxnSpLocks/>
          </p:cNvCxnSpPr>
          <p:nvPr/>
        </p:nvCxnSpPr>
        <p:spPr>
          <a:xfrm rot="16200000" flipV="1">
            <a:off x="4188114" y="4543853"/>
            <a:ext cx="961177" cy="2"/>
          </a:xfrm>
          <a:prstGeom prst="bentConnector3">
            <a:avLst/>
          </a:prstGeom>
          <a:ln w="76200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15">
            <a:extLst>
              <a:ext uri="{FF2B5EF4-FFF2-40B4-BE49-F238E27FC236}">
                <a16:creationId xmlns:a16="http://schemas.microsoft.com/office/drawing/2014/main" id="{CB0B6D51-D4A4-4716-9A5D-C4F5D3DDA908}"/>
              </a:ext>
            </a:extLst>
          </p:cNvPr>
          <p:cNvCxnSpPr>
            <a:cxnSpLocks/>
          </p:cNvCxnSpPr>
          <p:nvPr/>
        </p:nvCxnSpPr>
        <p:spPr>
          <a:xfrm rot="5400000">
            <a:off x="6382070" y="3409194"/>
            <a:ext cx="411470" cy="389469"/>
          </a:xfrm>
          <a:prstGeom prst="bentConnector2">
            <a:avLst/>
          </a:prstGeom>
          <a:ln w="76200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A9776B2-F267-4001-BAA6-16BB3C30E82B}"/>
              </a:ext>
            </a:extLst>
          </p:cNvPr>
          <p:cNvSpPr txBox="1"/>
          <p:nvPr/>
        </p:nvSpPr>
        <p:spPr>
          <a:xfrm>
            <a:off x="2635207" y="1380472"/>
            <a:ext cx="67719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One of the USART need to be used to connect to UPDI </a:t>
            </a:r>
          </a:p>
          <a:p>
            <a:r>
              <a:rPr lang="en-GB" dirty="0"/>
              <a:t>pin in the </a:t>
            </a:r>
            <a:r>
              <a:rPr lang="en-GB" dirty="0" err="1"/>
              <a:t>Attiny</a:t>
            </a:r>
            <a:r>
              <a:rPr lang="en-GB" dirty="0"/>
              <a:t> device. TX need to connect through a </a:t>
            </a:r>
          </a:p>
          <a:p>
            <a:r>
              <a:rPr lang="en-GB" dirty="0">
                <a:solidFill>
                  <a:srgbClr val="FF0000"/>
                </a:solidFill>
              </a:rPr>
              <a:t>4.7K ohm resistor </a:t>
            </a:r>
            <a:r>
              <a:rPr lang="en-GB" dirty="0"/>
              <a:t>to RX and RX connects to UPDI pin directly.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A2E3B-C6E5-4F4E-B231-1CE9DB25C164}"/>
              </a:ext>
            </a:extLst>
          </p:cNvPr>
          <p:cNvSpPr txBox="1"/>
          <p:nvPr/>
        </p:nvSpPr>
        <p:spPr>
          <a:xfrm>
            <a:off x="5597358" y="398251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highlight>
                  <a:srgbClr val="000080"/>
                </a:highlight>
              </a:rPr>
              <a:t>TX</a:t>
            </a:r>
            <a:endParaRPr lang="en-GB" dirty="0">
              <a:solidFill>
                <a:srgbClr val="FF0000"/>
              </a:solidFill>
              <a:highlight>
                <a:srgbClr val="00008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152254-04E5-4333-8B72-4DD9CAE399B6}"/>
              </a:ext>
            </a:extLst>
          </p:cNvPr>
          <p:cNvSpPr txBox="1"/>
          <p:nvPr/>
        </p:nvSpPr>
        <p:spPr>
          <a:xfrm>
            <a:off x="4679702" y="3989644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highlight>
                  <a:srgbClr val="000080"/>
                </a:highlight>
              </a:rPr>
              <a:t>RX</a:t>
            </a:r>
            <a:endParaRPr lang="en-GB" dirty="0">
              <a:solidFill>
                <a:srgbClr val="FF0000"/>
              </a:solidFill>
              <a:highlight>
                <a:srgbClr val="000080"/>
              </a:highligh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BDBEF8-2425-41B8-AE0F-440D76939152}"/>
              </a:ext>
            </a:extLst>
          </p:cNvPr>
          <p:cNvSpPr/>
          <p:nvPr/>
        </p:nvSpPr>
        <p:spPr>
          <a:xfrm>
            <a:off x="5012127" y="4462497"/>
            <a:ext cx="1145219" cy="2421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4.7K</a:t>
            </a:r>
          </a:p>
        </p:txBody>
      </p:sp>
      <p:cxnSp>
        <p:nvCxnSpPr>
          <p:cNvPr id="23" name="连接符: 肘形 15">
            <a:extLst>
              <a:ext uri="{FF2B5EF4-FFF2-40B4-BE49-F238E27FC236}">
                <a16:creationId xmlns:a16="http://schemas.microsoft.com/office/drawing/2014/main" id="{907D1546-C0ED-4D5C-AD3E-A8AC5FADF264}"/>
              </a:ext>
            </a:extLst>
          </p:cNvPr>
          <p:cNvCxnSpPr>
            <a:cxnSpLocks/>
          </p:cNvCxnSpPr>
          <p:nvPr/>
        </p:nvCxnSpPr>
        <p:spPr>
          <a:xfrm rot="5400000">
            <a:off x="4780316" y="4897879"/>
            <a:ext cx="477334" cy="13711"/>
          </a:xfrm>
          <a:prstGeom prst="bentConnector3">
            <a:avLst/>
          </a:prstGeom>
          <a:ln w="76200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446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  <p:bldP spid="7" grpId="0" animBg="1"/>
      <p:bldP spid="6" grpId="0" animBg="1"/>
      <p:bldP spid="29" grpId="0"/>
      <p:bldP spid="33" grpId="0" animBg="1"/>
      <p:bldP spid="3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492460"/>
            <a:ext cx="7772400" cy="645460"/>
          </a:xfrm>
        </p:spPr>
        <p:txBody>
          <a:bodyPr/>
          <a:lstStyle/>
          <a:p>
            <a:r>
              <a:rPr lang="en-US" sz="2800" dirty="0"/>
              <a:t>UPDI Introduce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703512" y="1268760"/>
            <a:ext cx="8763000" cy="53340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UPDI</a:t>
            </a:r>
            <a:r>
              <a:rPr lang="zh-CN" altLang="en-US" sz="2000" dirty="0"/>
              <a:t>（</a:t>
            </a:r>
            <a:r>
              <a:rPr lang="en-US" altLang="zh-CN" sz="2000" dirty="0"/>
              <a:t>Unified Program and Debug Interface</a:t>
            </a:r>
            <a:r>
              <a:rPr lang="zh-CN" altLang="en-US" sz="2000" dirty="0"/>
              <a:t>）：</a:t>
            </a:r>
            <a:endParaRPr lang="en-US" altLang="zh-CN" sz="2000" dirty="0"/>
          </a:p>
          <a:p>
            <a:pPr lvl="1"/>
            <a:r>
              <a:rPr lang="en-US" altLang="zh-CN" sz="1600" b="1" dirty="0"/>
              <a:t>Features</a:t>
            </a:r>
          </a:p>
          <a:p>
            <a:pPr marL="857250" lvl="2" indent="0">
              <a:buNone/>
            </a:pPr>
            <a:r>
              <a:rPr lang="en-US" altLang="zh-CN" sz="1600" dirty="0"/>
              <a:t>– External programming through UPDI 1-wire (1W) interface</a:t>
            </a:r>
          </a:p>
          <a:p>
            <a:pPr marL="1428750" lvl="3" indent="-171450"/>
            <a:r>
              <a:rPr lang="en-US" altLang="zh-CN" sz="1200" dirty="0"/>
              <a:t>1-wire UART-based half duplex interface using the RESET pin for data reception and transmission</a:t>
            </a:r>
          </a:p>
          <a:p>
            <a:pPr marL="857250" lvl="2" indent="0">
              <a:buNone/>
            </a:pPr>
            <a:r>
              <a:rPr lang="en-US" altLang="zh-CN" sz="1600" dirty="0"/>
              <a:t>– Uses the RESET pin of the device for programming</a:t>
            </a:r>
          </a:p>
          <a:p>
            <a:pPr marL="1314450" lvl="3" indent="0">
              <a:buNone/>
            </a:pPr>
            <a:r>
              <a:rPr lang="en-US" altLang="zh-CN" sz="1200" dirty="0"/>
              <a:t>No GPIO pins occupied during operation</a:t>
            </a:r>
          </a:p>
          <a:p>
            <a:pPr marL="857250" lvl="2" indent="0">
              <a:buNone/>
            </a:pPr>
            <a:endParaRPr lang="en-US" altLang="zh-CN" sz="1200" dirty="0"/>
          </a:p>
          <a:p>
            <a:pPr lvl="1"/>
            <a:r>
              <a:rPr lang="en-US" altLang="zh-CN" sz="1600" b="1" dirty="0"/>
              <a:t>Debugging</a:t>
            </a:r>
          </a:p>
          <a:p>
            <a:pPr marL="857250" lvl="2" indent="0">
              <a:buNone/>
            </a:pPr>
            <a:r>
              <a:rPr lang="en-US" altLang="zh-CN" sz="1600" dirty="0"/>
              <a:t>– Memory mapped access to device address space (NVM, RAM, I/O)</a:t>
            </a:r>
          </a:p>
          <a:p>
            <a:pPr marL="1485900" lvl="3" indent="-171450"/>
            <a:r>
              <a:rPr lang="en-US" altLang="zh-CN" sz="1200" dirty="0"/>
              <a:t>The UPDI supports programming of nonvolatile memory (NVM) space;</a:t>
            </a:r>
            <a:r>
              <a:rPr lang="en-US" altLang="zh-CN" sz="800" dirty="0"/>
              <a:t> </a:t>
            </a:r>
          </a:p>
          <a:p>
            <a:pPr marL="1771650" lvl="4" indent="0">
              <a:buNone/>
            </a:pPr>
            <a:r>
              <a:rPr lang="en-US" altLang="zh-CN" sz="1200" dirty="0"/>
              <a:t>FLASH, EEPROM, fuses, </a:t>
            </a:r>
            <a:r>
              <a:rPr lang="en-US" altLang="zh-CN" sz="1200" dirty="0" err="1"/>
              <a:t>lockbits</a:t>
            </a:r>
            <a:r>
              <a:rPr lang="en-US" altLang="zh-CN" sz="1200" dirty="0"/>
              <a:t>, and the user row. </a:t>
            </a:r>
          </a:p>
          <a:p>
            <a:pPr marL="1485900" lvl="3" indent="-171450"/>
            <a:r>
              <a:rPr lang="en-US" altLang="zh-CN" sz="1200" dirty="0"/>
              <a:t>In addition, the UPDI can access the entire I/O and data space of the device.</a:t>
            </a:r>
          </a:p>
          <a:p>
            <a:pPr marL="857250" lvl="2" indent="0">
              <a:buNone/>
            </a:pPr>
            <a:r>
              <a:rPr lang="en-US" altLang="zh-CN" sz="1600" dirty="0"/>
              <a:t>– Clocking of UPDI PHY is done by an internal oscillator</a:t>
            </a:r>
          </a:p>
          <a:p>
            <a:pPr lvl="3"/>
            <a:r>
              <a:rPr lang="en-US" altLang="zh-CN" sz="1200" dirty="0"/>
              <a:t>Communication using a fixed frame format, </a:t>
            </a:r>
          </a:p>
          <a:p>
            <a:pPr lvl="3"/>
            <a:r>
              <a:rPr lang="en-US" altLang="zh-CN" sz="1200" dirty="0"/>
              <a:t>and automatic baud rate detection for clock and data recovery.</a:t>
            </a:r>
          </a:p>
        </p:txBody>
      </p:sp>
    </p:spTree>
    <p:extLst>
      <p:ext uri="{BB962C8B-B14F-4D97-AF65-F5344CB8AC3E}">
        <p14:creationId xmlns:p14="http://schemas.microsoft.com/office/powerpoint/2010/main" val="272581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492460"/>
            <a:ext cx="7772400" cy="645460"/>
          </a:xfrm>
        </p:spPr>
        <p:txBody>
          <a:bodyPr/>
          <a:lstStyle/>
          <a:p>
            <a:r>
              <a:rPr lang="en-US" sz="2800" dirty="0"/>
              <a:t>UPDI Introduce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703512" y="1268760"/>
            <a:ext cx="8763000" cy="53340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UPDI Frame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lvl="1"/>
            <a:r>
              <a:rPr lang="en-US" altLang="zh-CN" sz="1600" dirty="0"/>
              <a:t>DATA</a:t>
            </a:r>
            <a:r>
              <a:rPr lang="zh-CN" altLang="en-US" sz="1600" dirty="0"/>
              <a:t>，</a:t>
            </a:r>
            <a:r>
              <a:rPr lang="en-US" altLang="zh-CN" sz="1600" dirty="0"/>
              <a:t>BREAK</a:t>
            </a:r>
            <a:r>
              <a:rPr lang="zh-CN" altLang="en-US" sz="1600" dirty="0"/>
              <a:t>，</a:t>
            </a:r>
            <a:r>
              <a:rPr lang="en-US" altLang="zh-CN" sz="1600" dirty="0"/>
              <a:t>IDLE</a:t>
            </a:r>
            <a:r>
              <a:rPr lang="zh-CN" altLang="en-US" sz="1600" dirty="0"/>
              <a:t>，</a:t>
            </a:r>
            <a:r>
              <a:rPr lang="en-US" altLang="zh-CN" sz="1600" dirty="0"/>
              <a:t>SYNCH</a:t>
            </a:r>
            <a:r>
              <a:rPr lang="zh-CN" altLang="en-US" sz="1600" dirty="0"/>
              <a:t>，</a:t>
            </a:r>
            <a:r>
              <a:rPr lang="en-US" altLang="zh-CN" sz="1600" dirty="0"/>
              <a:t>ACK 5 Types</a:t>
            </a:r>
          </a:p>
          <a:p>
            <a:pPr lvl="1"/>
            <a:r>
              <a:rPr lang="en-US" altLang="zh-CN" sz="1600" dirty="0"/>
              <a:t>Data frame consists of one Start bit (always low), eight data bits, one parity bit (even parity), and two Stop bits (always high).</a:t>
            </a:r>
          </a:p>
          <a:p>
            <a:pPr lvl="1"/>
            <a:endParaRPr lang="en-US" altLang="zh-CN" sz="1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79C19FD-3FBC-4267-8DEC-3FBB450BB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155" y="2723679"/>
            <a:ext cx="4580111" cy="351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00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492460"/>
            <a:ext cx="7772400" cy="645460"/>
          </a:xfrm>
        </p:spPr>
        <p:txBody>
          <a:bodyPr/>
          <a:lstStyle/>
          <a:p>
            <a:r>
              <a:rPr lang="en-US" sz="2800" dirty="0"/>
              <a:t>UPDI Introduce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703512" y="1268760"/>
            <a:ext cx="8763000" cy="53340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Direction Change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lvl="1"/>
            <a:r>
              <a:rPr lang="en-US" altLang="zh-CN" sz="1600" dirty="0"/>
              <a:t>UPDI has a built-in Guard Time mechanism to relax the timing when changing direction from RX mode to TX mode. </a:t>
            </a:r>
          </a:p>
          <a:p>
            <a:pPr lvl="2"/>
            <a:r>
              <a:rPr lang="en-US" altLang="zh-CN" sz="1200" dirty="0"/>
              <a:t>The Guard Time is a number of IDLE bits inserted before the next Start bit is transmitted. </a:t>
            </a:r>
          </a:p>
          <a:p>
            <a:pPr lvl="2"/>
            <a:r>
              <a:rPr lang="en-US" altLang="zh-CN" sz="1200" dirty="0"/>
              <a:t>The number of IDLE bits can be configured through GTVAL in UPDI.CTRLA. (Default 128 </a:t>
            </a:r>
            <a:r>
              <a:rPr lang="en-US" altLang="zh-CN" sz="1200" dirty="0" err="1"/>
              <a:t>clks</a:t>
            </a:r>
            <a:r>
              <a:rPr lang="en-US" altLang="zh-CN" sz="1200" dirty="0"/>
              <a:t>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1C9D04B-F15D-4B2A-A007-4C3B32C8D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096" y="3687209"/>
            <a:ext cx="7512503" cy="1658407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9B4CA8E4-C9B7-4047-A1C8-B9FBDE66CE75}"/>
              </a:ext>
            </a:extLst>
          </p:cNvPr>
          <p:cNvSpPr/>
          <p:nvPr/>
        </p:nvSpPr>
        <p:spPr>
          <a:xfrm>
            <a:off x="5552793" y="3603280"/>
            <a:ext cx="1104523" cy="11588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362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492460"/>
            <a:ext cx="7772400" cy="645460"/>
          </a:xfrm>
        </p:spPr>
        <p:txBody>
          <a:bodyPr/>
          <a:lstStyle/>
          <a:p>
            <a:r>
              <a:rPr lang="en-US" sz="2800" dirty="0"/>
              <a:t>UPDI Introduce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703512" y="1268760"/>
            <a:ext cx="8763000" cy="53340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UPDI Instruction Set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lvl="1"/>
            <a:r>
              <a:rPr lang="en-US" altLang="zh-CN" sz="1600" b="1" dirty="0"/>
              <a:t>Direct Addressing Access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lvl="2"/>
            <a:r>
              <a:rPr lang="en-US" altLang="zh-CN" sz="1600" b="1" dirty="0"/>
              <a:t>LDS</a:t>
            </a:r>
            <a:r>
              <a:rPr lang="en-US" altLang="zh-CN" sz="1600" dirty="0"/>
              <a:t> - Load Data from Data Space Using Direct Addressing</a:t>
            </a:r>
          </a:p>
          <a:p>
            <a:pPr lvl="2"/>
            <a:r>
              <a:rPr lang="en-US" altLang="zh-CN" sz="1600" b="1" dirty="0"/>
              <a:t>STS</a:t>
            </a:r>
            <a:r>
              <a:rPr lang="en-US" altLang="zh-CN" sz="1600" dirty="0"/>
              <a:t> - Store Data to Data Space Using Direct Addressing</a:t>
            </a:r>
          </a:p>
          <a:p>
            <a:pPr lvl="1"/>
            <a:r>
              <a:rPr lang="en-US" altLang="zh-CN" sz="1600" b="1" dirty="0"/>
              <a:t>Indirect Addressing Access:</a:t>
            </a:r>
          </a:p>
          <a:p>
            <a:pPr lvl="2"/>
            <a:r>
              <a:rPr lang="en-US" altLang="zh-CN" sz="1600" b="1" dirty="0"/>
              <a:t>LD </a:t>
            </a:r>
            <a:r>
              <a:rPr lang="en-US" altLang="zh-CN" sz="1600" dirty="0"/>
              <a:t>- Load Data from Data Space Using Indirect Addressing</a:t>
            </a:r>
          </a:p>
          <a:p>
            <a:pPr lvl="2"/>
            <a:r>
              <a:rPr lang="en-US" altLang="zh-CN" sz="1600" b="1" dirty="0"/>
              <a:t>ST </a:t>
            </a:r>
            <a:r>
              <a:rPr lang="en-US" altLang="zh-CN" sz="1600" dirty="0"/>
              <a:t>- Store Data from Data Space Using Indirect Addressing</a:t>
            </a:r>
          </a:p>
          <a:p>
            <a:pPr lvl="1"/>
            <a:r>
              <a:rPr lang="en-US" altLang="zh-CN" sz="1600" b="1" dirty="0"/>
              <a:t>Control and Status Register Space Access:</a:t>
            </a:r>
          </a:p>
          <a:p>
            <a:pPr lvl="2"/>
            <a:r>
              <a:rPr lang="en-US" altLang="zh-CN" sz="1600" b="1" dirty="0"/>
              <a:t>LCDS </a:t>
            </a:r>
            <a:r>
              <a:rPr lang="en-US" altLang="zh-CN" sz="1600" dirty="0"/>
              <a:t>- Load Data from Control and Status Register Space</a:t>
            </a:r>
          </a:p>
          <a:p>
            <a:pPr lvl="2"/>
            <a:r>
              <a:rPr lang="en-US" altLang="zh-CN" sz="1600" b="1" dirty="0"/>
              <a:t>STCS </a:t>
            </a:r>
            <a:r>
              <a:rPr lang="en-US" altLang="zh-CN" sz="1600" dirty="0"/>
              <a:t>- Store Data to Control and Status Register Space</a:t>
            </a:r>
            <a:endParaRPr lang="en-US" altLang="zh-CN" sz="1600" b="1" dirty="0"/>
          </a:p>
          <a:p>
            <a:pPr lvl="1"/>
            <a:r>
              <a:rPr lang="en-US" altLang="zh-CN" sz="1600" b="1" dirty="0"/>
              <a:t>Set Instruction Repeat Counter</a:t>
            </a:r>
          </a:p>
          <a:p>
            <a:pPr lvl="2"/>
            <a:r>
              <a:rPr lang="en-US" altLang="zh-CN" sz="1600" b="1" dirty="0"/>
              <a:t>REPEAT</a:t>
            </a:r>
            <a:r>
              <a:rPr lang="en-US" altLang="zh-CN" sz="1200" dirty="0"/>
              <a:t> </a:t>
            </a:r>
            <a:r>
              <a:rPr lang="en-US" altLang="zh-CN" sz="800" dirty="0"/>
              <a:t> 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altLang="zh-CN" sz="1200" dirty="0"/>
              <a:t>REPEAT is most useful for memory instructions (LD,ST,LDS,STS)</a:t>
            </a:r>
          </a:p>
          <a:p>
            <a:pPr lvl="1"/>
            <a:r>
              <a:rPr lang="en-US" altLang="zh-CN" sz="1600" b="1" dirty="0"/>
              <a:t>Set Activation KEY</a:t>
            </a:r>
          </a:p>
          <a:p>
            <a:pPr lvl="2"/>
            <a:r>
              <a:rPr lang="en-US" altLang="zh-CN" sz="1600" b="1" dirty="0"/>
              <a:t>KEY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altLang="zh-CN" sz="1200" dirty="0"/>
              <a:t>Send SIB(System Information Block)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altLang="zh-CN" sz="1200" dirty="0"/>
              <a:t>Chip Erase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altLang="zh-CN" sz="1200" dirty="0"/>
              <a:t>NVMPROG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altLang="zh-CN" sz="1200" dirty="0"/>
              <a:t>USERROW-Write</a:t>
            </a:r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2950609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492460"/>
            <a:ext cx="7772400" cy="645460"/>
          </a:xfrm>
        </p:spPr>
        <p:txBody>
          <a:bodyPr/>
          <a:lstStyle/>
          <a:p>
            <a:r>
              <a:rPr lang="en-US" altLang="zh-CN" sz="2800" dirty="0"/>
              <a:t>Chip Erase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0C9ACF-66AF-4AC6-8855-2D3445A81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425" y="1676837"/>
            <a:ext cx="7779150" cy="453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189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492460"/>
            <a:ext cx="7772400" cy="645460"/>
          </a:xfrm>
        </p:spPr>
        <p:txBody>
          <a:bodyPr/>
          <a:lstStyle/>
          <a:p>
            <a:r>
              <a:rPr lang="en-US" altLang="zh-CN" sz="2800" dirty="0"/>
              <a:t>Chip Program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7092B2-64CA-45FC-BEF0-62338937D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423" y="1269632"/>
            <a:ext cx="7169572" cy="528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220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4412" y="483583"/>
            <a:ext cx="7772400" cy="645460"/>
          </a:xfrm>
        </p:spPr>
        <p:txBody>
          <a:bodyPr/>
          <a:lstStyle/>
          <a:p>
            <a:r>
              <a:rPr lang="en-US" sz="2800" dirty="0"/>
              <a:t>File importing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65857D-C3B0-42BB-8D32-9BCD5750CC19}"/>
              </a:ext>
            </a:extLst>
          </p:cNvPr>
          <p:cNvSpPr txBox="1"/>
          <p:nvPr/>
        </p:nvSpPr>
        <p:spPr>
          <a:xfrm>
            <a:off x="852256" y="1740024"/>
            <a:ext cx="809715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Copy folder </a:t>
            </a:r>
            <a:r>
              <a:rPr lang="en-GB" dirty="0" err="1"/>
              <a:t>cupdi</a:t>
            </a:r>
            <a:r>
              <a:rPr lang="en-GB" dirty="0"/>
              <a:t> to your MCU project. </a:t>
            </a:r>
          </a:p>
          <a:p>
            <a:endParaRPr lang="en-GB" dirty="0"/>
          </a:p>
          <a:p>
            <a:r>
              <a:rPr lang="en-GB" dirty="0"/>
              <a:t>2.  Only 5 files need to be modified base on the timer and </a:t>
            </a:r>
            <a:r>
              <a:rPr lang="en-GB" dirty="0" err="1"/>
              <a:t>usart</a:t>
            </a:r>
            <a:r>
              <a:rPr lang="en-GB" dirty="0"/>
              <a:t> of your MCU.</a:t>
            </a:r>
          </a:p>
          <a:p>
            <a:endParaRPr lang="en-GB" dirty="0"/>
          </a:p>
          <a:p>
            <a:r>
              <a:rPr lang="en-GB" dirty="0"/>
              <a:t>3.  </a:t>
            </a:r>
            <a:r>
              <a:rPr lang="en-GB" dirty="0" err="1"/>
              <a:t>cupdi.h</a:t>
            </a:r>
            <a:r>
              <a:rPr lang="en-GB" dirty="0"/>
              <a:t> contains the function </a:t>
            </a:r>
            <a:r>
              <a:rPr lang="en-GB" sz="1800" dirty="0" err="1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cupdi_operate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r>
              <a:rPr lang="en-GB" dirty="0"/>
              <a:t> that you need to invoke</a:t>
            </a:r>
          </a:p>
          <a:p>
            <a:r>
              <a:rPr lang="en-GB" dirty="0"/>
              <a:t>      to program the </a:t>
            </a:r>
            <a:r>
              <a:rPr lang="en-GB" dirty="0" err="1"/>
              <a:t>Attiny</a:t>
            </a:r>
            <a:r>
              <a:rPr lang="en-GB" dirty="0"/>
              <a:t> series devices in the main() function or other places.</a:t>
            </a:r>
          </a:p>
          <a:p>
            <a:pPr marL="342900" indent="-342900">
              <a:buAutoNum type="arabicPeriod"/>
            </a:pP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0D11F3-0FAA-4AB2-9BD8-20B339405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522" y="3564893"/>
            <a:ext cx="4314825" cy="2924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A737E6-9699-495E-9E00-1F16C9138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7726" y="0"/>
            <a:ext cx="22442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874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492460"/>
            <a:ext cx="7772400" cy="645460"/>
          </a:xfrm>
        </p:spPr>
        <p:txBody>
          <a:bodyPr/>
          <a:lstStyle/>
          <a:p>
            <a:r>
              <a:rPr lang="en-US" altLang="zh-CN" sz="2800" dirty="0"/>
              <a:t>File modifying – </a:t>
            </a:r>
            <a:r>
              <a:rPr lang="en-US" altLang="zh-CN" sz="2800" dirty="0" err="1"/>
              <a:t>delay.c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AE86D6-7381-4D67-AE7D-D47EEA5868BC}"/>
              </a:ext>
            </a:extLst>
          </p:cNvPr>
          <p:cNvSpPr txBox="1"/>
          <p:nvPr/>
        </p:nvSpPr>
        <p:spPr>
          <a:xfrm>
            <a:off x="754602" y="1899821"/>
            <a:ext cx="64857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A millisecond delay function need to be implemented.</a:t>
            </a:r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r>
              <a:rPr lang="en-GB" dirty="0"/>
              <a:t>You need to replace the function </a:t>
            </a:r>
            <a:r>
              <a:rPr lang="en-GB" sz="1800" dirty="0" err="1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delay_ms</a:t>
            </a:r>
            <a:r>
              <a:rPr lang="en-GB" dirty="0"/>
              <a:t> with your MCU</a:t>
            </a:r>
          </a:p>
          <a:p>
            <a:r>
              <a:rPr lang="en-GB" dirty="0"/>
              <a:t>      implementation.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D2CBC0-9179-4DE9-8158-A996882B9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236" y="2110066"/>
            <a:ext cx="4423492" cy="284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960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492460"/>
            <a:ext cx="7772400" cy="645460"/>
          </a:xfrm>
        </p:spPr>
        <p:txBody>
          <a:bodyPr/>
          <a:lstStyle/>
          <a:p>
            <a:r>
              <a:rPr lang="en-US" altLang="zh-CN" sz="2800" dirty="0"/>
              <a:t>File modifying – </a:t>
            </a:r>
            <a:r>
              <a:rPr lang="en-US" altLang="zh-CN" sz="2800" dirty="0" err="1"/>
              <a:t>ihex.c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AE86D6-7381-4D67-AE7D-D47EEA5868BC}"/>
              </a:ext>
            </a:extLst>
          </p:cNvPr>
          <p:cNvSpPr txBox="1"/>
          <p:nvPr/>
        </p:nvSpPr>
        <p:spPr>
          <a:xfrm>
            <a:off x="754602" y="1899821"/>
            <a:ext cx="596432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Hex file that used to be programmed to the </a:t>
            </a:r>
            <a:r>
              <a:rPr lang="en-GB" dirty="0" err="1"/>
              <a:t>attiny</a:t>
            </a:r>
            <a:endParaRPr lang="en-GB" dirty="0"/>
          </a:p>
          <a:p>
            <a:r>
              <a:rPr lang="en-GB" dirty="0"/>
              <a:t>      series devices need to be transferred to bin array.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2. The little tool hex2array.exe can be used to generate </a:t>
            </a:r>
          </a:p>
          <a:p>
            <a:r>
              <a:rPr lang="en-GB" dirty="0"/>
              <a:t>     bin array. You can use the tool as below and then you</a:t>
            </a:r>
          </a:p>
          <a:p>
            <a:r>
              <a:rPr lang="en-GB" dirty="0"/>
              <a:t>     should copy all the content from the </a:t>
            </a:r>
            <a:r>
              <a:rPr lang="en-GB" dirty="0" err="1"/>
              <a:t>test.c</a:t>
            </a:r>
            <a:r>
              <a:rPr lang="en-GB" dirty="0"/>
              <a:t> to replace</a:t>
            </a:r>
          </a:p>
          <a:p>
            <a:r>
              <a:rPr lang="en-GB" dirty="0"/>
              <a:t>     all the content on the right hand in the </a:t>
            </a:r>
            <a:r>
              <a:rPr lang="en-GB" dirty="0" err="1"/>
              <a:t>ihex.c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C81E1A-0B2F-4206-9E1B-A18E184C85FA}"/>
              </a:ext>
            </a:extLst>
          </p:cNvPr>
          <p:cNvSpPr txBox="1"/>
          <p:nvPr/>
        </p:nvSpPr>
        <p:spPr>
          <a:xfrm>
            <a:off x="4132123" y="4876252"/>
            <a:ext cx="1629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hex2array.exe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270821-A022-4F75-B614-CBEFDB058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2650" y="1354301"/>
            <a:ext cx="3926658" cy="38912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21AF99-3615-4853-8FDD-F88CBBC073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002" y="6007485"/>
            <a:ext cx="9915525" cy="457200"/>
          </a:xfrm>
          <a:prstGeom prst="rect">
            <a:avLst/>
          </a:prstGeom>
        </p:spPr>
      </p:pic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BC220486-84ED-43B8-BACF-69E00EDAB9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3261125"/>
              </p:ext>
            </p:extLst>
          </p:nvPr>
        </p:nvGraphicFramePr>
        <p:xfrm>
          <a:off x="2821200" y="4635917"/>
          <a:ext cx="914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Packager Shell Object" showAsIcon="1" r:id="rId5" imgW="914400" imgH="806400" progId="Package">
                  <p:embed/>
                </p:oleObj>
              </mc:Choice>
              <mc:Fallback>
                <p:oleObj name="Packager Shell Object" showAsIcon="1" r:id="rId5" imgW="914400" imgH="8064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21200" y="4635917"/>
                        <a:ext cx="9144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9894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492460"/>
            <a:ext cx="7772400" cy="645460"/>
          </a:xfrm>
        </p:spPr>
        <p:txBody>
          <a:bodyPr/>
          <a:lstStyle/>
          <a:p>
            <a:r>
              <a:rPr lang="en-US" altLang="zh-CN" sz="2800" dirty="0"/>
              <a:t>File modifying – </a:t>
            </a:r>
            <a:r>
              <a:rPr lang="en-US" altLang="zh-CN" sz="2800" dirty="0" err="1"/>
              <a:t>serial.c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AE86D6-7381-4D67-AE7D-D47EEA5868BC}"/>
              </a:ext>
            </a:extLst>
          </p:cNvPr>
          <p:cNvSpPr txBox="1"/>
          <p:nvPr/>
        </p:nvSpPr>
        <p:spPr>
          <a:xfrm>
            <a:off x="754602" y="1476890"/>
            <a:ext cx="86613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Call the function based on your MCU to initialize and enable the </a:t>
            </a:r>
            <a:r>
              <a:rPr lang="en-GB" dirty="0" err="1"/>
              <a:t>usart</a:t>
            </a:r>
            <a:r>
              <a:rPr lang="en-GB" dirty="0"/>
              <a:t>.</a:t>
            </a:r>
          </a:p>
          <a:p>
            <a:pPr marL="342900" indent="-342900">
              <a:buAutoNum type="arabicPeriod"/>
            </a:pPr>
            <a:endParaRPr lang="en-GB" dirty="0"/>
          </a:p>
          <a:p>
            <a:r>
              <a:rPr lang="en-GB" dirty="0"/>
              <a:t>2. If the initialization has been done in other place, you don’t need to initialize again.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509B4-894E-44A5-ABB5-87930BDED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788" y="2739190"/>
            <a:ext cx="7258423" cy="352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62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492460"/>
            <a:ext cx="7772400" cy="645460"/>
          </a:xfrm>
        </p:spPr>
        <p:txBody>
          <a:bodyPr/>
          <a:lstStyle/>
          <a:p>
            <a:r>
              <a:rPr lang="en-US" altLang="zh-CN" sz="2800" dirty="0"/>
              <a:t>File modifying – </a:t>
            </a:r>
            <a:r>
              <a:rPr lang="en-US" altLang="zh-CN" sz="2800" dirty="0" err="1"/>
              <a:t>serial.c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AE86D6-7381-4D67-AE7D-D47EEA5868BC}"/>
              </a:ext>
            </a:extLst>
          </p:cNvPr>
          <p:cNvSpPr txBox="1"/>
          <p:nvPr/>
        </p:nvSpPr>
        <p:spPr>
          <a:xfrm>
            <a:off x="0" y="1405868"/>
            <a:ext cx="5187639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You need to call the set baud rate function</a:t>
            </a:r>
          </a:p>
          <a:p>
            <a:r>
              <a:rPr lang="en-GB" dirty="0"/>
              <a:t>with your MCU USART function to replace</a:t>
            </a:r>
          </a:p>
          <a:p>
            <a:r>
              <a:rPr lang="en-GB" sz="1800" dirty="0" err="1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usart_async_set_baud_rate</a:t>
            </a:r>
            <a:r>
              <a:rPr lang="en-GB" sz="1800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</a:p>
          <a:p>
            <a:endParaRPr lang="en-GB" dirty="0">
              <a:solidFill>
                <a:srgbClr val="88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42900" indent="-342900">
              <a:buAutoNum type="arabicPeriod" startAt="2"/>
            </a:pPr>
            <a:r>
              <a:rPr lang="en-GB" dirty="0"/>
              <a:t>You need to call the set character size </a:t>
            </a:r>
          </a:p>
          <a:p>
            <a:r>
              <a:rPr lang="en-GB" dirty="0"/>
              <a:t>function with your MCU USART function</a:t>
            </a:r>
          </a:p>
          <a:p>
            <a:r>
              <a:rPr lang="en-GB" dirty="0"/>
              <a:t>to replace </a:t>
            </a:r>
            <a:r>
              <a:rPr lang="en-GB" sz="1800" dirty="0" err="1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usart_async_set_character_size</a:t>
            </a:r>
            <a:r>
              <a:rPr lang="en-GB" sz="1800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endParaRPr lang="en-GB" dirty="0"/>
          </a:p>
          <a:p>
            <a:endParaRPr lang="en-GB" dirty="0"/>
          </a:p>
          <a:p>
            <a:r>
              <a:rPr lang="en-GB" dirty="0"/>
              <a:t>3.  You need to call the set stop bits function </a:t>
            </a:r>
          </a:p>
          <a:p>
            <a:r>
              <a:rPr lang="en-GB" dirty="0"/>
              <a:t>with your MCU USART function to replace</a:t>
            </a:r>
          </a:p>
          <a:p>
            <a:r>
              <a:rPr lang="en-GB" dirty="0"/>
              <a:t>to replace </a:t>
            </a:r>
            <a:r>
              <a:rPr lang="en-GB" sz="1800" dirty="0" err="1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usart_async_set_stopbits</a:t>
            </a:r>
            <a:r>
              <a:rPr lang="en-GB" sz="1800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endParaRPr lang="en-GB" dirty="0"/>
          </a:p>
          <a:p>
            <a:endParaRPr lang="en-GB" dirty="0"/>
          </a:p>
          <a:p>
            <a:r>
              <a:rPr lang="en-GB" dirty="0"/>
              <a:t>4.  You need to call the set parity function </a:t>
            </a:r>
          </a:p>
          <a:p>
            <a:r>
              <a:rPr lang="en-GB" dirty="0"/>
              <a:t>with your MCU USART function to replace</a:t>
            </a:r>
          </a:p>
          <a:p>
            <a:r>
              <a:rPr lang="en-GB" dirty="0"/>
              <a:t>to replace </a:t>
            </a:r>
            <a:r>
              <a:rPr lang="en-GB" sz="1800" dirty="0" err="1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usart_async_set_parity</a:t>
            </a:r>
            <a:r>
              <a:rPr lang="en-GB" sz="1800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</a:p>
          <a:p>
            <a:endParaRPr lang="en-GB" dirty="0">
              <a:solidFill>
                <a:srgbClr val="88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Please be noted the parameters should </a:t>
            </a:r>
          </a:p>
          <a:p>
            <a:r>
              <a:rPr lang="en-GB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be modified according to your MCU.</a:t>
            </a:r>
            <a:endParaRPr lang="en-GB" dirty="0"/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685FD0-6AB9-4E7B-8E66-17CDF6E18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065" y="1476890"/>
            <a:ext cx="7106257" cy="469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025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492460"/>
            <a:ext cx="7772400" cy="645460"/>
          </a:xfrm>
        </p:spPr>
        <p:txBody>
          <a:bodyPr/>
          <a:lstStyle/>
          <a:p>
            <a:r>
              <a:rPr lang="en-US" altLang="zh-CN" sz="2800" dirty="0"/>
              <a:t>File modifying – </a:t>
            </a:r>
            <a:r>
              <a:rPr lang="en-US" altLang="zh-CN" sz="2800" dirty="0" err="1"/>
              <a:t>serial.c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AE86D6-7381-4D67-AE7D-D47EEA5868BC}"/>
              </a:ext>
            </a:extLst>
          </p:cNvPr>
          <p:cNvSpPr txBox="1"/>
          <p:nvPr/>
        </p:nvSpPr>
        <p:spPr>
          <a:xfrm>
            <a:off x="0" y="5499292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Call the flush function in your MCU to replace</a:t>
            </a:r>
          </a:p>
          <a:p>
            <a:r>
              <a:rPr lang="en-GB" sz="1800" dirty="0" err="1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usart_async_flush_rx_buffer</a:t>
            </a:r>
            <a:r>
              <a:rPr lang="en-GB" sz="1800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                              </a:t>
            </a:r>
            <a:r>
              <a:rPr lang="en-GB" dirty="0"/>
              <a:t>3.   Call the </a:t>
            </a:r>
            <a:r>
              <a:rPr lang="en-GB" dirty="0" err="1"/>
              <a:t>usart</a:t>
            </a:r>
            <a:r>
              <a:rPr lang="en-GB" dirty="0"/>
              <a:t> send function in your MCU</a:t>
            </a:r>
          </a:p>
          <a:p>
            <a:r>
              <a:rPr lang="en-GB" dirty="0"/>
              <a:t>2.   Call the </a:t>
            </a:r>
            <a:r>
              <a:rPr lang="en-GB" dirty="0" err="1"/>
              <a:t>usart</a:t>
            </a:r>
            <a:r>
              <a:rPr lang="en-GB" dirty="0"/>
              <a:t> send function in your MCU to replace </a:t>
            </a:r>
            <a:r>
              <a:rPr lang="en-GB" sz="1800" dirty="0" err="1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io_write</a:t>
            </a:r>
            <a:r>
              <a:rPr lang="en-GB" sz="1800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        </a:t>
            </a:r>
            <a:r>
              <a:rPr lang="en-GB" dirty="0"/>
              <a:t>to replace </a:t>
            </a:r>
            <a:r>
              <a:rPr lang="en-GB" sz="1800" dirty="0" err="1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io_</a:t>
            </a:r>
            <a:r>
              <a:rPr lang="en-GB" dirty="0" err="1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read</a:t>
            </a:r>
            <a:r>
              <a:rPr lang="en-GB" sz="1800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 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F00845-7ADF-458C-B5D3-0E73A6746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46" y="1288855"/>
            <a:ext cx="4788146" cy="21146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366721-3AAA-448F-8EC3-52B3F9630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515" y="1288855"/>
            <a:ext cx="5321573" cy="27433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DBA7B0-27B3-48F0-A2C9-5C2A7868A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146" y="3454487"/>
            <a:ext cx="4667490" cy="20448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394A94-6A73-4D99-B1DC-BD3D09550E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4432" y="4183131"/>
            <a:ext cx="4095961" cy="15304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8078486-AA2E-4E0F-9F00-35AEB7A1442D}"/>
              </a:ext>
            </a:extLst>
          </p:cNvPr>
          <p:cNvSpPr txBox="1"/>
          <p:nvPr/>
        </p:nvSpPr>
        <p:spPr>
          <a:xfrm>
            <a:off x="9203495" y="4183131"/>
            <a:ext cx="29504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Call the disable USART</a:t>
            </a:r>
          </a:p>
          <a:p>
            <a:r>
              <a:rPr lang="en-GB" dirty="0"/>
              <a:t>function in your MCU to </a:t>
            </a:r>
          </a:p>
          <a:p>
            <a:r>
              <a:rPr lang="en-GB" dirty="0"/>
              <a:t>replace</a:t>
            </a:r>
          </a:p>
          <a:p>
            <a:r>
              <a:rPr lang="en-GB" sz="1800" dirty="0" err="1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usart_async_disable</a:t>
            </a:r>
            <a:r>
              <a:rPr lang="en-GB" sz="1800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222867-9BDB-4082-B3C8-DBB1FFF0769F}"/>
              </a:ext>
            </a:extLst>
          </p:cNvPr>
          <p:cNvSpPr txBox="1"/>
          <p:nvPr/>
        </p:nvSpPr>
        <p:spPr>
          <a:xfrm>
            <a:off x="10488966" y="1474540"/>
            <a:ext cx="177393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Please be </a:t>
            </a:r>
          </a:p>
          <a:p>
            <a:r>
              <a:rPr lang="en-GB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noted the </a:t>
            </a:r>
          </a:p>
          <a:p>
            <a:r>
              <a:rPr lang="en-GB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parameters </a:t>
            </a:r>
          </a:p>
          <a:p>
            <a:r>
              <a:rPr lang="en-GB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should </a:t>
            </a:r>
          </a:p>
          <a:p>
            <a:r>
              <a:rPr lang="en-GB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be modified </a:t>
            </a:r>
          </a:p>
          <a:p>
            <a:r>
              <a:rPr lang="en-GB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according to</a:t>
            </a:r>
          </a:p>
          <a:p>
            <a:r>
              <a:rPr lang="en-GB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your MCU.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6148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492460"/>
            <a:ext cx="7772400" cy="645460"/>
          </a:xfrm>
        </p:spPr>
        <p:txBody>
          <a:bodyPr/>
          <a:lstStyle/>
          <a:p>
            <a:r>
              <a:rPr lang="en-US" altLang="zh-CN" sz="2800" dirty="0"/>
              <a:t>File modifying – </a:t>
            </a:r>
            <a:r>
              <a:rPr lang="en-US" altLang="zh-CN" sz="2800" dirty="0" err="1"/>
              <a:t>cupdi.c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AE86D6-7381-4D67-AE7D-D47EEA5868BC}"/>
              </a:ext>
            </a:extLst>
          </p:cNvPr>
          <p:cNvSpPr txBox="1"/>
          <p:nvPr/>
        </p:nvSpPr>
        <p:spPr>
          <a:xfrm>
            <a:off x="754602" y="1476890"/>
            <a:ext cx="414587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You should read the default fuse data including Fuses and Lock bits through UPDI using data programming of Atmel Studio. </a:t>
            </a:r>
          </a:p>
          <a:p>
            <a:pPr marL="342900" indent="-342900">
              <a:buAutoNum type="arabicPeriod"/>
            </a:pPr>
            <a:endParaRPr lang="en-GB" dirty="0"/>
          </a:p>
          <a:p>
            <a:r>
              <a:rPr lang="en-GB" dirty="0"/>
              <a:t>2. If there’re no changes to fuses, then you can copy the fuse data to the array </a:t>
            </a:r>
            <a:r>
              <a:rPr lang="en-GB" sz="1800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fuse_data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[].</a:t>
            </a:r>
          </a:p>
          <a:p>
            <a:endParaRPr lang="en-GB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dirty="0"/>
              <a:t>3. If you want to change fuses, then you can modify the copied fuse data in  the array </a:t>
            </a:r>
            <a:r>
              <a:rPr lang="en-GB" sz="1800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fuse_data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C17284-1DF8-4C34-9C56-F94FB9EB1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919" y="2893886"/>
            <a:ext cx="6453556" cy="36585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3E5337-507A-4DCB-A10D-EDFF0C6BF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919" y="1210953"/>
            <a:ext cx="6616404" cy="154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681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492460"/>
            <a:ext cx="7772400" cy="645460"/>
          </a:xfrm>
        </p:spPr>
        <p:txBody>
          <a:bodyPr/>
          <a:lstStyle/>
          <a:p>
            <a:r>
              <a:rPr lang="en-US" altLang="zh-CN" sz="2800" dirty="0"/>
              <a:t>CUPDI size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AE86D6-7381-4D67-AE7D-D47EEA5868BC}"/>
              </a:ext>
            </a:extLst>
          </p:cNvPr>
          <p:cNvSpPr txBox="1"/>
          <p:nvPr/>
        </p:nvSpPr>
        <p:spPr>
          <a:xfrm>
            <a:off x="0" y="1405868"/>
            <a:ext cx="618207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You need to define the macro CUPDI globally first.</a:t>
            </a:r>
            <a:endParaRPr lang="en-GB" sz="1800" dirty="0">
              <a:solidFill>
                <a:srgbClr val="88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GB" dirty="0">
              <a:solidFill>
                <a:srgbClr val="88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42900" indent="-342900">
              <a:buAutoNum type="arabicPeriod" startAt="2"/>
            </a:pPr>
            <a:r>
              <a:rPr lang="en-GB" dirty="0"/>
              <a:t>The program memory usage of </a:t>
            </a:r>
            <a:r>
              <a:rPr lang="en-GB" dirty="0" err="1"/>
              <a:t>cupdi</a:t>
            </a:r>
            <a:r>
              <a:rPr lang="en-GB" dirty="0"/>
              <a:t> is about</a:t>
            </a:r>
          </a:p>
          <a:p>
            <a:r>
              <a:rPr lang="en-GB" dirty="0"/>
              <a:t>     </a:t>
            </a:r>
            <a:r>
              <a:rPr lang="en-GB" dirty="0">
                <a:solidFill>
                  <a:srgbClr val="FF0000"/>
                </a:solidFill>
              </a:rPr>
              <a:t>20K </a:t>
            </a:r>
            <a:r>
              <a:rPr lang="en-GB" dirty="0"/>
              <a:t>bytes.</a:t>
            </a:r>
          </a:p>
          <a:p>
            <a:endParaRPr lang="en-GB" dirty="0"/>
          </a:p>
          <a:p>
            <a:r>
              <a:rPr lang="en-GB" dirty="0"/>
              <a:t>3. The data memory usage of cupid is about </a:t>
            </a:r>
          </a:p>
          <a:p>
            <a:r>
              <a:rPr lang="en-GB" dirty="0"/>
              <a:t>    </a:t>
            </a:r>
            <a:r>
              <a:rPr lang="en-GB" dirty="0">
                <a:solidFill>
                  <a:srgbClr val="FF0000"/>
                </a:solidFill>
              </a:rPr>
              <a:t>1K </a:t>
            </a:r>
            <a:r>
              <a:rPr lang="en-GB" dirty="0"/>
              <a:t>bytes.</a:t>
            </a:r>
          </a:p>
          <a:p>
            <a:endParaRPr lang="en-GB" dirty="0"/>
          </a:p>
          <a:p>
            <a:r>
              <a:rPr lang="en-GB" dirty="0"/>
              <a:t>4. The bin array transferred from hex file can be allocated</a:t>
            </a:r>
          </a:p>
          <a:p>
            <a:r>
              <a:rPr lang="en-GB" dirty="0"/>
              <a:t>    in program memory or data memory based on your </a:t>
            </a:r>
          </a:p>
          <a:p>
            <a:r>
              <a:rPr lang="en-GB" dirty="0"/>
              <a:t>    MCU memory. And the size is less than the flash size of </a:t>
            </a:r>
          </a:p>
          <a:p>
            <a:r>
              <a:rPr lang="en-GB" dirty="0"/>
              <a:t>    Tiny series devices.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D162FD-4D2E-4096-A357-D60A73E3E0C0}"/>
              </a:ext>
            </a:extLst>
          </p:cNvPr>
          <p:cNvSpPr txBox="1"/>
          <p:nvPr/>
        </p:nvSpPr>
        <p:spPr>
          <a:xfrm>
            <a:off x="7458214" y="1405868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Undefine CUPDI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BBD1F3-2CE7-4596-BC8B-D4A9C5D2F903}"/>
              </a:ext>
            </a:extLst>
          </p:cNvPr>
          <p:cNvSpPr txBox="1"/>
          <p:nvPr/>
        </p:nvSpPr>
        <p:spPr>
          <a:xfrm>
            <a:off x="7714694" y="4301470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Define CUPDI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B174A9-5E33-4A92-AE00-1D9376BB7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132" y="1793164"/>
            <a:ext cx="5928251" cy="17464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99F810-40DE-4A40-821D-D1ABB9767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125" y="4751371"/>
            <a:ext cx="5924258" cy="174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67197"/>
      </p:ext>
    </p:extLst>
  </p:cSld>
  <p:clrMapOvr>
    <a:masterClrMapping/>
  </p:clrMapOvr>
</p:sld>
</file>

<file path=ppt/theme/theme1.xml><?xml version="1.0" encoding="utf-8"?>
<a:theme xmlns:a="http://schemas.openxmlformats.org/drawingml/2006/main" name="MCHP Corporate PowerPoint Template 7-2014 - test them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1016</Words>
  <Application>Microsoft Office PowerPoint</Application>
  <PresentationFormat>Widescreen</PresentationFormat>
  <Paragraphs>149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Consolas</vt:lpstr>
      <vt:lpstr>Monotype Sorts</vt:lpstr>
      <vt:lpstr>Wingdings</vt:lpstr>
      <vt:lpstr>MCHP Corporate PowerPoint Template 7-2014 - test theme</vt:lpstr>
      <vt:lpstr>Packager Shell Object</vt:lpstr>
      <vt:lpstr>PowerPoint Presentation</vt:lpstr>
      <vt:lpstr>Software Framework</vt:lpstr>
      <vt:lpstr>UPDI Introduce</vt:lpstr>
      <vt:lpstr>UPDI Introduce</vt:lpstr>
      <vt:lpstr>UPDI Introduce</vt:lpstr>
      <vt:lpstr>UPDI Introduce</vt:lpstr>
      <vt:lpstr>Chip Erase</vt:lpstr>
      <vt:lpstr>Chip Program</vt:lpstr>
      <vt:lpstr>File importing</vt:lpstr>
      <vt:lpstr>File modifying – delay.c</vt:lpstr>
      <vt:lpstr>File modifying – ihex.c</vt:lpstr>
      <vt:lpstr>File modifying – serial.c</vt:lpstr>
      <vt:lpstr>File modifying – serial.c</vt:lpstr>
      <vt:lpstr>File modifying – serial.c</vt:lpstr>
      <vt:lpstr>File modifying – cupdi.c</vt:lpstr>
      <vt:lpstr>CUPDI size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MCU UPDI移植说明</dc:title>
  <dc:creator>Rocup Wan - A18425</dc:creator>
  <cp:lastModifiedBy>Rocup Wan - A18425</cp:lastModifiedBy>
  <cp:revision>51</cp:revision>
  <dcterms:created xsi:type="dcterms:W3CDTF">2020-08-20T11:31:15Z</dcterms:created>
  <dcterms:modified xsi:type="dcterms:W3CDTF">2020-09-14T03:25:04Z</dcterms:modified>
</cp:coreProperties>
</file>